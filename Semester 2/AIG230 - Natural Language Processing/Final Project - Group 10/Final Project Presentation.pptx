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Noto Sans" panose="020B0502040504020204" pitchFamily="34" charset="0"/>
      <p:regular r:id="rId14"/>
    </p:embeddedFont>
    <p:embeddedFont>
      <p:font typeface="Noto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2" y="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07.08.2025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3760886"/>
            <a:ext cx="9445526" cy="18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Transformer-Based Sentiment Classification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29461"/>
            <a:ext cx="9445526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Names - Falgun Parikh and Jonathan Chacko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857202"/>
            <a:ext cx="11895236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Introduction: Sentiment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281636"/>
            <a:ext cx="163035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Sentiment analysis, a core NLP sub-discipline, classifies documents by sentiment (positive, negative, neutral). This project focuses on binary sentiment classification of IMDb movie reviews.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507831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Our goals are to evaluate: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280397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Whether Transformer-based models outperform classic ML baselines.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833146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Model behavior using metrics and error analysis (confusion matrices, quantitative, and qualitative).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267545"/>
            <a:ext cx="88725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Dataset &amp; Preprocessing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81289"/>
            <a:ext cx="5302598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Dataset: IMDb Movie Reviews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56009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50,000 posts tagged as positive or negative.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11284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Data Split: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66558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Train: 40,000 reviews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21833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Validation: 5,000 reviews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771085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Test: 5,000 reviews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3881289"/>
            <a:ext cx="375151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Preprocessing Steps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456009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Lowercasing 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511284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Removing HTML tags and punctuation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566558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Tokenization (WordPiece for Transformers)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621833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Special tokens ([CLS], [SEP])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6771085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Padding and truncation to fixed length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7323833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TF-IDF vectorization (max features = 5000) for baselines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991171"/>
            <a:ext cx="7418189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Model Architectures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604915"/>
            <a:ext cx="5969199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Transformer-Based Model (BERT)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283720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Base Model: BERT-base-uncased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836467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Fine-Tuning: Binary output (Dense layer)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389215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Optimizer: AdamW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41962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Loss Function: Cross-entropy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494710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Epochs: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04745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Batch Size: 16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760020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Evaluation Metrics: Accuracy, Precision, Recall, F1-score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3604915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Baseline Models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4283720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Using TF-IDF vectorization, we trained: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4992440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Logistic Regression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5545187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Support Vector Machine (SVM)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6097935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Multinomial Naive Bayes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1" y="6650683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Random Forest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13196164" y="3958234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13196164" y="3958234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2735" y="725091"/>
            <a:ext cx="6737748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87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Results &amp;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735" y="2246114"/>
            <a:ext cx="5460801" cy="430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Transformer (BERT) Performance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6183" y="7409554"/>
            <a:ext cx="7899647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 dirty="0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Test Set Results:</a:t>
            </a:r>
            <a:r>
              <a:rPr lang="en-US" sz="2062" dirty="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Accuracy: 0.889, Precision: 0.8469, Recall: 0.9496, F1-score: 0.8953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75142" y="2246114"/>
            <a:ext cx="6450509" cy="430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Baseline Model Performance (Test Set)</a:t>
            </a: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B9FCC175-F907-0FEB-00CE-67E306969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689858"/>
              </p:ext>
            </p:extLst>
          </p:nvPr>
        </p:nvGraphicFramePr>
        <p:xfrm>
          <a:off x="9475142" y="3086100"/>
          <a:ext cx="7696200" cy="3914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63684401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288400794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725315672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58134066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1636357933"/>
                    </a:ext>
                  </a:extLst>
                </a:gridCol>
              </a:tblGrid>
              <a:tr h="6813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Model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Accuracy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Precision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Recall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F1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7567636"/>
                  </a:ext>
                </a:extLst>
              </a:tr>
              <a:tr h="9351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Logistic Regression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0.8914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0.8919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0.8908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0.8913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2266547"/>
                  </a:ext>
                </a:extLst>
              </a:tr>
              <a:tr h="6813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SVM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0.8856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0.8900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0.8800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0.8850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9676956"/>
                  </a:ext>
                </a:extLst>
              </a:tr>
              <a:tr h="6813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Naive Bayes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0.8516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0.8505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0.8532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0.8518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2496600"/>
                  </a:ext>
                </a:extLst>
              </a:tr>
              <a:tr h="9351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Random Forest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0.8414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0.8505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0.8284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0.8393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0156961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D39AB02E-CBBB-171A-0F28-7361C03B2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916390"/>
              </p:ext>
            </p:extLst>
          </p:nvPr>
        </p:nvGraphicFramePr>
        <p:xfrm>
          <a:off x="922734" y="3086099"/>
          <a:ext cx="7696199" cy="39143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9457">
                  <a:extLst>
                    <a:ext uri="{9D8B030D-6E8A-4147-A177-3AD203B41FA5}">
                      <a16:colId xmlns:a16="http://schemas.microsoft.com/office/drawing/2014/main" val="1814694044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1280266818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4082689259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3949390849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650834438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3773170125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757178721"/>
                    </a:ext>
                  </a:extLst>
                </a:gridCol>
              </a:tblGrid>
              <a:tr h="978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Epoch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Train Loss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Val Loss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Val Acc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Precision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Recall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F1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0863128"/>
                  </a:ext>
                </a:extLst>
              </a:tr>
              <a:tr h="978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0.2747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0.2781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0.8874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0.8416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0.9544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0.8945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0687208"/>
                  </a:ext>
                </a:extLst>
              </a:tr>
              <a:tr h="978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0.1779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0.3077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0.8988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0.8966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0.9016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0.8991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6221778"/>
                  </a:ext>
                </a:extLst>
              </a:tr>
              <a:tr h="978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0.4269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0.8992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0.8871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0.9148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0.9007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41896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918458" y="1611660"/>
            <a:ext cx="5965346" cy="4770180"/>
            <a:chOff x="0" y="0"/>
            <a:chExt cx="7226300" cy="57785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226300" cy="5778500"/>
            </a:xfrm>
            <a:custGeom>
              <a:avLst/>
              <a:gdLst/>
              <a:ahLst/>
              <a:cxnLst/>
              <a:rect l="l" t="t" r="r" b="b"/>
              <a:pathLst>
                <a:path w="7226300" h="5778500">
                  <a:moveTo>
                    <a:pt x="0" y="0"/>
                  </a:moveTo>
                  <a:lnTo>
                    <a:pt x="7226300" y="0"/>
                  </a:lnTo>
                  <a:lnTo>
                    <a:pt x="7226300" y="5778500"/>
                  </a:lnTo>
                  <a:lnTo>
                    <a:pt x="0" y="5778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738268" y="379660"/>
            <a:ext cx="4811465" cy="64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Visualizations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73596" y="1237506"/>
            <a:ext cx="9330104" cy="3643461"/>
            <a:chOff x="0" y="0"/>
            <a:chExt cx="12440138" cy="485794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4582913" cy="438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2"/>
                </a:lnSpc>
              </a:pPr>
              <a:r>
                <a:rPr lang="en-US" sz="1874">
                  <a:solidFill>
                    <a:srgbClr val="97B8FF"/>
                  </a:solidFill>
                  <a:latin typeface="Arimo"/>
                  <a:ea typeface="Arimo"/>
                  <a:cs typeface="Arimo"/>
                  <a:sym typeface="Arimo"/>
                </a:rPr>
                <a:t>Training and Validation Loss</a:t>
              </a:r>
            </a:p>
          </p:txBody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498872"/>
              <a:ext cx="6408937" cy="4359077"/>
              <a:chOff x="0" y="0"/>
              <a:chExt cx="6408937" cy="4359077"/>
            </a:xfrm>
          </p:grpSpPr>
          <p:sp>
            <p:nvSpPr>
              <p:cNvPr id="14" name="Freeform 14" descr="preencoded.png"/>
              <p:cNvSpPr/>
              <p:nvPr/>
            </p:nvSpPr>
            <p:spPr>
              <a:xfrm>
                <a:off x="0" y="0"/>
                <a:ext cx="6408928" cy="4359021"/>
              </a:xfrm>
              <a:custGeom>
                <a:avLst/>
                <a:gdLst/>
                <a:ahLst/>
                <a:cxnLst/>
                <a:rect l="l" t="t" r="r" b="b"/>
                <a:pathLst>
                  <a:path w="6408928" h="4359021">
                    <a:moveTo>
                      <a:pt x="0" y="0"/>
                    </a:moveTo>
                    <a:lnTo>
                      <a:pt x="6408928" y="0"/>
                    </a:lnTo>
                    <a:lnTo>
                      <a:pt x="6408928" y="4359021"/>
                    </a:lnTo>
                    <a:lnTo>
                      <a:pt x="0" y="43590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69" r="-69" b="-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657475" y="422672"/>
              <a:ext cx="5782663" cy="410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250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Loss decreased with training but increased with validation past epoch 2, indicating slight overfitting. Early stopping/regularization is important for better generalization.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3596" y="6081207"/>
            <a:ext cx="9137030" cy="3605718"/>
            <a:chOff x="0" y="0"/>
            <a:chExt cx="12182707" cy="480762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38100"/>
              <a:ext cx="3276997" cy="438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2"/>
                </a:lnSpc>
              </a:pPr>
              <a:r>
                <a:rPr lang="en-US" sz="1874">
                  <a:solidFill>
                    <a:srgbClr val="97B8FF"/>
                  </a:solidFill>
                  <a:latin typeface="Arimo"/>
                  <a:ea typeface="Arimo"/>
                  <a:cs typeface="Arimo"/>
                  <a:sym typeface="Arimo"/>
                </a:rPr>
                <a:t>Validation Accuracy</a:t>
              </a:r>
            </a:p>
          </p:txBody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559275"/>
              <a:ext cx="6408937" cy="4248348"/>
              <a:chOff x="0" y="0"/>
              <a:chExt cx="6408937" cy="4248348"/>
            </a:xfrm>
          </p:grpSpPr>
          <p:sp>
            <p:nvSpPr>
              <p:cNvPr id="19" name="Freeform 19" descr="preencoded.png"/>
              <p:cNvSpPr/>
              <p:nvPr/>
            </p:nvSpPr>
            <p:spPr>
              <a:xfrm>
                <a:off x="0" y="0"/>
                <a:ext cx="6408928" cy="4248404"/>
              </a:xfrm>
              <a:custGeom>
                <a:avLst/>
                <a:gdLst/>
                <a:ahLst/>
                <a:cxnLst/>
                <a:rect l="l" t="t" r="r" b="b"/>
                <a:pathLst>
                  <a:path w="6408928" h="4248404">
                    <a:moveTo>
                      <a:pt x="0" y="0"/>
                    </a:moveTo>
                    <a:lnTo>
                      <a:pt x="6408928" y="0"/>
                    </a:lnTo>
                    <a:lnTo>
                      <a:pt x="6408928" y="4248404"/>
                    </a:lnTo>
                    <a:lnTo>
                      <a:pt x="0" y="424840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6" b="-3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657475" y="483075"/>
              <a:ext cx="5525232" cy="3511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250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Validation accuracy plateaued after epoch 2, implying primary learning occurred early. Additional epochs offered no significant improvement.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18458" y="1123751"/>
            <a:ext cx="8983260" cy="8820349"/>
            <a:chOff x="0" y="0"/>
            <a:chExt cx="11977680" cy="11760466"/>
          </a:xfrm>
        </p:grpSpPr>
        <p:sp>
          <p:nvSpPr>
            <p:cNvPr id="22" name="TextBox 22"/>
            <p:cNvSpPr txBox="1"/>
            <p:nvPr/>
          </p:nvSpPr>
          <p:spPr>
            <a:xfrm>
              <a:off x="78654" y="-28575"/>
              <a:ext cx="4746227" cy="393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848">
                  <a:solidFill>
                    <a:srgbClr val="97B8FF"/>
                  </a:solidFill>
                  <a:latin typeface="Arimo"/>
                  <a:ea typeface="Arimo"/>
                  <a:cs typeface="Arimo"/>
                  <a:sym typeface="Arimo"/>
                </a:rPr>
                <a:t>Confusion Matrix for BERT Model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941373"/>
              <a:ext cx="8044095" cy="2884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2"/>
                </a:lnSpc>
              </a:pPr>
              <a:r>
                <a:rPr lang="en-US" sz="2218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The confusion matrix shows balanced false positives and negatives, suggesting the model sometimes misinterprets negative reviews as positive due to snarkiness or subtle criticisms.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54" y="10063584"/>
              <a:ext cx="11899026" cy="400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3921" lvl="1" indent="-131961" algn="l">
                <a:lnSpc>
                  <a:spcPts val="2770"/>
                </a:lnSpc>
                <a:buFont typeface="Arial"/>
                <a:buChar char="•"/>
              </a:pPr>
              <a:r>
                <a:rPr lang="en-US" sz="1749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True Positives: 2,374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54" y="10495626"/>
              <a:ext cx="11899026" cy="400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3921" lvl="1" indent="-131961" algn="l">
                <a:lnSpc>
                  <a:spcPts val="2770"/>
                </a:lnSpc>
                <a:buFont typeface="Arial"/>
                <a:buChar char="•"/>
              </a:pPr>
              <a:r>
                <a:rPr lang="en-US" sz="1749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True Negatives: 2,071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54" y="10927667"/>
              <a:ext cx="11899026" cy="400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3921" lvl="1" indent="-131961" algn="l">
                <a:lnSpc>
                  <a:spcPts val="2770"/>
                </a:lnSpc>
                <a:buFont typeface="Arial"/>
                <a:buChar char="•"/>
              </a:pPr>
              <a:r>
                <a:rPr lang="en-US" sz="1749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False Positives: 429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54" y="11359710"/>
              <a:ext cx="11899026" cy="400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3921" lvl="1" indent="-131961" algn="l">
                <a:lnSpc>
                  <a:spcPts val="2770"/>
                </a:lnSpc>
                <a:buFont typeface="Arial"/>
                <a:buChar char="•"/>
              </a:pPr>
              <a:r>
                <a:rPr lang="en-US" sz="1749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False Negatives: 126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824460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Error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4315569"/>
            <a:ext cx="5283547" cy="3108871"/>
            <a:chOff x="0" y="0"/>
            <a:chExt cx="7044730" cy="4145162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6993890" cy="4094353"/>
            </a:xfrm>
            <a:custGeom>
              <a:avLst/>
              <a:gdLst/>
              <a:ahLst/>
              <a:cxnLst/>
              <a:rect l="l" t="t" r="r" b="b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044690" cy="4145153"/>
            </a:xfrm>
            <a:custGeom>
              <a:avLst/>
              <a:gdLst/>
              <a:ahLst/>
              <a:cxnLst/>
              <a:rect l="l" t="t" r="r" b="b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3F3F4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54138" y="4334619"/>
            <a:ext cx="152400" cy="3070771"/>
            <a:chOff x="0" y="0"/>
            <a:chExt cx="203200" cy="40943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03200" cy="4094353"/>
            </a:xfrm>
            <a:custGeom>
              <a:avLst/>
              <a:gdLst/>
              <a:ahLst/>
              <a:cxnLst/>
              <a:rect l="l" t="t" r="r" b="b"/>
              <a:pathLst>
                <a:path w="203200" h="4094353">
                  <a:moveTo>
                    <a:pt x="0" y="0"/>
                  </a:moveTo>
                  <a:lnTo>
                    <a:pt x="203200" y="0"/>
                  </a:lnTo>
                  <a:lnTo>
                    <a:pt x="203200" y="4094353"/>
                  </a:lnTo>
                  <a:lnTo>
                    <a:pt x="0" y="409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" r="-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28155" y="461813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False Negatives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155" y="5183535"/>
            <a:ext cx="4487912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Doubtful, ambivalent, not-so-negative reviews, or those with sarcasm/ mixed sentiments.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02152" y="4315569"/>
            <a:ext cx="5283547" cy="3108871"/>
            <a:chOff x="0" y="0"/>
            <a:chExt cx="7044730" cy="4145162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6993890" cy="4094353"/>
            </a:xfrm>
            <a:custGeom>
              <a:avLst/>
              <a:gdLst/>
              <a:ahLst/>
              <a:cxnLst/>
              <a:rect l="l" t="t" r="r" b="b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044690" cy="4145153"/>
            </a:xfrm>
            <a:custGeom>
              <a:avLst/>
              <a:gdLst/>
              <a:ahLst/>
              <a:cxnLst/>
              <a:rect l="l" t="t" r="r" b="b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3F3F4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483102" y="4334619"/>
            <a:ext cx="152400" cy="3070771"/>
            <a:chOff x="0" y="0"/>
            <a:chExt cx="203200" cy="409436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203200" cy="4094353"/>
            </a:xfrm>
            <a:custGeom>
              <a:avLst/>
              <a:gdLst/>
              <a:ahLst/>
              <a:cxnLst/>
              <a:rect l="l" t="t" r="r" b="b"/>
              <a:pathLst>
                <a:path w="203200" h="4094353">
                  <a:moveTo>
                    <a:pt x="0" y="0"/>
                  </a:moveTo>
                  <a:lnTo>
                    <a:pt x="203200" y="0"/>
                  </a:lnTo>
                  <a:lnTo>
                    <a:pt x="203200" y="4094353"/>
                  </a:lnTo>
                  <a:lnTo>
                    <a:pt x="0" y="409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" r="-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57120" y="461813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False Positives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7120" y="5183535"/>
            <a:ext cx="4487912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Strong negative wording combined with positive proportional ratings in a non-judgmental fashion.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31116" y="4315569"/>
            <a:ext cx="5283547" cy="3108871"/>
            <a:chOff x="0" y="0"/>
            <a:chExt cx="7044730" cy="4145162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6993890" cy="4094353"/>
            </a:xfrm>
            <a:custGeom>
              <a:avLst/>
              <a:gdLst/>
              <a:ahLst/>
              <a:cxnLst/>
              <a:rect l="l" t="t" r="r" b="b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7044690" cy="4145153"/>
            </a:xfrm>
            <a:custGeom>
              <a:avLst/>
              <a:gdLst/>
              <a:ahLst/>
              <a:cxnLst/>
              <a:rect l="l" t="t" r="r" b="b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3F3F4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2012066" y="4334619"/>
            <a:ext cx="152400" cy="3070771"/>
            <a:chOff x="0" y="0"/>
            <a:chExt cx="203200" cy="4094362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203200" cy="4094353"/>
            </a:xfrm>
            <a:custGeom>
              <a:avLst/>
              <a:gdLst/>
              <a:ahLst/>
              <a:cxnLst/>
              <a:rect l="l" t="t" r="r" b="b"/>
              <a:pathLst>
                <a:path w="203200" h="4094353">
                  <a:moveTo>
                    <a:pt x="0" y="0"/>
                  </a:moveTo>
                  <a:lnTo>
                    <a:pt x="203200" y="0"/>
                  </a:lnTo>
                  <a:lnTo>
                    <a:pt x="203200" y="4094353"/>
                  </a:lnTo>
                  <a:lnTo>
                    <a:pt x="0" y="409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" r="-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486085" y="461813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Ambiguity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86085" y="5183535"/>
            <a:ext cx="4487913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Many mistakes stem from ambiguous meaning rather than just sentiment polarity.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968699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Discussion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478857"/>
            <a:ext cx="637878" cy="637878"/>
            <a:chOff x="0" y="0"/>
            <a:chExt cx="850503" cy="8505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8575" y="3570089"/>
            <a:ext cx="425202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13632" y="3538091"/>
            <a:ext cx="427687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Performance Comparison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3632" y="4546401"/>
            <a:ext cx="4276874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TF-IDF with Logistic Regression slightly outperformed fine-tuned BERT on this dataset. This suggests the IMDb dataset is not overly complex, and BERT's advantage may not be fully realized with limited fine-tuning (3 epochs).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44866" y="3478857"/>
            <a:ext cx="637878" cy="637878"/>
            <a:chOff x="0" y="0"/>
            <a:chExt cx="850503" cy="8505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51204" y="3570089"/>
            <a:ext cx="425203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6260" y="3538091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Overfitting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6260" y="4103489"/>
            <a:ext cx="4276874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BERT showed graphical signs of overfitting past epoch 2. Generalization could be enhanced with early stopping.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97494" y="3478857"/>
            <a:ext cx="637877" cy="637878"/>
            <a:chOff x="0" y="0"/>
            <a:chExt cx="850503" cy="8505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203831" y="3570089"/>
            <a:ext cx="425203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18889" y="3538091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Practical Takeaway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18889" y="4103489"/>
            <a:ext cx="4276874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For IMDb sentiment classification, domain-standard ML baselines outperform Transformers in accuracy at significantly lower computing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479922"/>
            <a:ext cx="9352359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Conclusion &amp;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904357"/>
            <a:ext cx="163035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While computationally more costly, fine-tuned BERT's performance is comparable to the best baseline. TF-IDF Logistic Regression remains a powerful and economic alternative.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284440"/>
            <a:ext cx="396835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Future Improvements: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104930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More epochs for fine-tuning with early stopping.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657677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Data augmentation for better generalization.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210425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Exploring domain-expert Transformers like DistilBERT or RoBERTa.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98482D-CAC1-A547-A6FF-730B62AE2B4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73A72676-1EFC-E942-1B04-D6CCA6BB1E7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03788C-5AF2-3520-044F-7C02236F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726" y="99060"/>
            <a:ext cx="14118548" cy="1008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11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613</Words>
  <Application>Microsoft Office PowerPoint</Application>
  <PresentationFormat>Custom</PresentationFormat>
  <Paragraphs>154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Arimo</vt:lpstr>
      <vt:lpstr>Calibri</vt:lpstr>
      <vt:lpstr>Noto Sans</vt:lpstr>
      <vt:lpstr>Arial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Transformer-Based-Sentiment-Classification.pptx</dc:title>
  <cp:lastModifiedBy>Falgun Parikh</cp:lastModifiedBy>
  <cp:revision>4</cp:revision>
  <dcterms:created xsi:type="dcterms:W3CDTF">2006-08-16T00:00:00Z</dcterms:created>
  <dcterms:modified xsi:type="dcterms:W3CDTF">2025-08-07T16:43:12Z</dcterms:modified>
  <dc:identifier>DAGvaJ3_78k</dc:identifier>
</cp:coreProperties>
</file>